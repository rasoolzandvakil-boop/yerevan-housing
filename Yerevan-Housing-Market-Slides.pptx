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666666"/>
                </a:solidFill>
                <a:latin typeface="Helvetica"/>
              </a:rPr>
              <a:t>ARMENIA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1F3A5F"/>
                </a:solidFill>
                <a:latin typeface="Helvetica"/>
              </a:rPr>
              <a:t>The Yerevan Housing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000000"/>
                </a:solidFill>
                <a:latin typeface="Helvetica"/>
              </a:rPr>
              <a:t>Prices, Rents, Short-Term Rentals, and the Neighborhood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666666"/>
                </a:solidFill>
                <a:latin typeface="Helvetica"/>
              </a:rPr>
              <a:t>Working draft,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1. A policy- and migration-fueled boom, now past its peak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House prices rose about 11 percent per year in 2022 to 2024 (IMF), far more in U.S. dollar terms: the dram strengthened from 480 to about 365 per dollar.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Three demand shocks: about 110,000 Russians relocated in 2022 (60,000 to 65,000 stayed, mostly Yerevan); 100,000+ Nagorno-Karabakh refugees from late 2023; foreign and diaspora buying at a 3-year high (2,014 purchases in 2025, +27 percent).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One large subsidy underneath: the mortgage income-tax refund program, costing 0.7 percent of GDP in 2024, expired in Yerevan on January 1, 2025.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2025: Yerevan apartment prices flat (+0.3 percent), center down 1 to 2 percent, while regions rose 16 percent and houses 17 to 27 percent.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Q2 2026: growth resumed, 1 to 1.5 percent per month (Central Bank of Armenia).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2. Macro backdrop: consensus growth of 5.3 to 5.7 percent for 2026-27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Real GDP: +12.6 percent (2022), +8.3 (2023), +5.9 (2024), +7.2 (2025); H1 2026 activity +7.7 percent.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Projections converge: IMF 5.3/5.5, World Bank 5.3/5.1, EBRD 5.5/5.5, ADB 5.5/5.7, government 5.4; IMF potential-growth estimate raised from 4.5 to about 5 percent.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Inflation back at 4 to 5 percent against a 3 percent target; policy rate on hold at 6.50 percent; dram mortgage rates near 12.5 percent, cash buyers advantaged.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External soft spot: current account deficit near 6 to 7 percent of GDP; FDI at a historic low; but record reserves (US$5.7 to 6.9 billion) and a firm dram.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Fiscal solid: deficits under 4 percent of GDP, debt near 50 percent, defense cut 15 percent post-peace; Fitch, Moody's, and S&amp;P all on Positive outlook (mid-2026).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Key risk overlap: Russia is about two-fifths of trade and tourists, two-thirds of transfers. Macro risk and housing risk are the same bet.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Figure 1. Armenia real GDP growth, actual and projected</a:t>
            </a:r>
          </a:p>
        </p:txBody>
      </p:sp>
      <p:pic>
        <p:nvPicPr>
          <p:cNvPr id="3" name="Picture 2" descr="fig_g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917" y="1188720"/>
            <a:ext cx="8807861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790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Helvetica"/>
              </a:rPr>
              <a:t>Real GDP growth, 2021 to 2027, with IMF projections and estimated potential.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9904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66666"/>
                </a:solidFill>
                <a:latin typeface="Helvetica"/>
              </a:rPr>
              <a:t>Sources: Armstat; IMF World Economic Outlook (April 2026); staff calculations.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3. Prices: a decade of quiet, then boom, pause, and re-acceleration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Cadastre Yerevan average: AMD 268,000 per sq m (2013); 330,000 to 350,000 (2020-21); +14 percent in 2022; AMD 426,800 (+8.8 percent) in 2024; flat in 2025.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The 2024 surge was a policy artifact: buyers rushed to lock in the expiring tax credit. Yerevan transactions +32 percent, mortgage growth peaked at 37 percent.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July 2025: first year-on-year price decline in 50 months (IMF). 2025 transactions still a record: 59,748 purchase-sales nationwide.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June 2026 levels: Kentron about US$2,500 per sq m (secondary), Arabkir US$1,830, mid-ring US$1,200 to 1,450, Nubarashen US$700.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New-build asking materially higher: Kentron minimum-asking average AMD 1,293,000 (about US$3,360); elite projects quote US$5,000 to 10,000.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Valuation estimates: IMF 8 to 25 percent overvalued (2023); CBA 16 to 25 percent above fundamentals (2022-23). Neither has been worked off.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Figure 2. Yerevan average apartment price</a:t>
            </a:r>
          </a:p>
        </p:txBody>
      </p:sp>
      <p:pic>
        <p:nvPicPr>
          <p:cNvPr id="3" name="Picture 2" descr="fig1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615" y="1188720"/>
            <a:ext cx="8306465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790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Helvetica"/>
              </a:rPr>
              <a:t>Average apartment price, thousands of drams per square meter, 2020 to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9904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66666"/>
                </a:solidFill>
                <a:latin typeface="Helvetica"/>
              </a:rPr>
              <a:t>Sources: State Real Estate Cadastre Committee via press republications; Central Bank of Armenia.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4. The tax-refund program: the boom's policy engine, now unwinding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Since 2015: salary income tax refundable against mortgage interest on new-build purchases from developers; cumulative refunds AMD 299 billion to 70,000+ beneficiaries.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Phase-out by geography: central Yerevan 2022-23, all Yerevan from January 1, 2025; four regions ringing the capital lose it January 1, 2027; nationwide end 2029.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Footprints in every series: the 2024 rush, the 2025 Yerevan stall, mortgage growth 37 to 13 percent, the 16 percent regional price surge.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Construction pipeline collapsed in Kentron and Arabkir after eligibility ended there: a medium-term scarcity argument for quality central stock.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Watch late 2026: possible anticipatory buying in the four regions before the 2027 cutoff (Grant Thornton).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5. The neighborhood map: a stable hierarchy, moving at the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Hierarchy stable for a decade: Kentron at 2.1 to 2.3 times the city average, Arabkir 1.5x, Nubarashen 0.55x.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Kentron: liquidity, prestige, short-term-rental demand; only district with 2025 price declines; elite US$3,000+ segment carries absorption risk.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Arabkir and satellites (Kanaker-Zeytun, Davtashen): best reported yields, 8 to 10 percent gross; steadier local demand.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Momentum in the mid-ring: Ajapnyak +13.7 percent in 2025; Shengavit's Arshakunyats corridor has the widest new-build vs. secondary gap outside Kentron.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Demand sweet spot: 50 to 75 sq m units in new or renovated buildings.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Screening criterion, not a detail: 45 percent of Yerevan buildings rated highly earthquake-susceptible; about 5 percent retrofitted.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Figure 3. District prices, July 2022 vs. June 2026</a:t>
            </a:r>
          </a:p>
        </p:txBody>
      </p:sp>
      <p:pic>
        <p:nvPicPr>
          <p:cNvPr id="3" name="Picture 2" descr="fig2_distri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829" y="1188720"/>
            <a:ext cx="6466037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790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Helvetica"/>
              </a:rPr>
              <a:t>Secondary-market apartment prices by district, thousands of drams per square meter.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9904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66666"/>
                </a:solidFill>
                <a:latin typeface="Helvetica"/>
              </a:rPr>
              <a:t>Sources: official statistics via news.am (2022) and b24.am (2026).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6. Named neighborhoods: where growth is concentrating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Halabyan-Abelyan / Norashen (Ajapnyak): metro station #11 with a 152 m gorge bridge (design done, investment-committee approval Jul 2026, no contractor yet) plus the TUMO engineering campus; new-builds US$850 to 1,630 per sq m; the district led 2025 at +13.7 percent. Best catalyst-per-dollar in the city.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Rubinyants / Paruyr Sevak / Gogol cluster (Kanaker-Zeytun): 10+ active projects at US$1,280 to 1,850; Arabkir spillover and the tech corridor. The "Arabkir at a discount" play.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Noragyugh fringe (Kentron, gorge edge): "Yerevan Downtown" approved Jan 2026 (81 ha, about 155 buildings incl. 70-storey towers, acquisitions at market +30 percent) but no financing signed. Buy adjacent streets outside the acquisition zone for optionality.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Davtashen / Pirumyanner: fifth Hrazdan bridge and Babajanyan-Ashtarak road near completion; US$1,470 to 2,180; the lower-beta family compounder.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Already priced: Arshakunyats corridor (Shengavit) new-builds at US$1,650 to 2,310, the dearest outside the center while its secondary market dipped in 2025; Dalma/Tsitsernakaberd mid-late premium; Firdus finished at up to US$5,000 per sq 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7. Gentrification watchlist: the rule is groundbreaking, not announcement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Yerevan does not gentrify organically: appreciation follows government mega-decisions (metro decrees, redevelopment programs, campus projects) - which makes the watchlist trackable by named milestones.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Every headline catalyst is approved but unfunded or unbuilt as of mid-2026: the Ajapnyak metro has no contractor, Yerevan Downtown no financing, Kond no action plan, and the Academic City (700 ha, 16 universities, first students 2030) a timeline analysts doubt.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Pre-gentrification, speculative: Kond (state concept presented Jun 2026; informal house market, title risk); Sari Tagh / Nor Aresh (Erebuni; metro #12 "Surmalu" still at design stage); 17th Quarter / Silikyan (Academic City zone; land play, not apartments).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Cheap but unproven momentum: Nor Nork upper massivs (US$1,100 to 1,880, cheapest new-build district); Avan / Acharyan cluster (entry tickets near AMD 16 million; Kotayk next door had +49 percent transactions in 2025).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Milestones to monitor: Ajapnyak metro contractor selection; Yerevan Downtown financing agreement; Kond action plan; Academic City groundbreaking; Isakov-Arshakunyats road completion.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8. Rents: spike, correction, settled well above pre-war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2022: rents doubled to tripled within months of the Russian influx; central 2-3 room units went from AMD 140,000 to 180,000 to peaks of 400,000 to 500,000.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2023-24: roughly 30 to 40 percent correction as relocants departed; Karabakh refugees offset at far lower purchasing power.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Now: central one-bedroom US$550 to 850; most-demanded bracket US$300 to 500; tenant shortage in the US$1,000+ premium tier; rental transactions -28.6 percent in 2025.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Rents settled 50 to 80 percent above pre-war; realtors' consensus is they will not return to 2021 levels.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Gross yields: 5.5 to 7 percent in the center, 7 to 10 percent in Arabkir and the mid-ring; net about 1.5 to 2 points lower.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CBA governor: price-to-rent ratio rising, investment attractiveness declining.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Figure 4. Central Yerevan one-bedroom rent</a:t>
            </a:r>
          </a:p>
        </p:txBody>
      </p:sp>
      <p:pic>
        <p:nvPicPr>
          <p:cNvPr id="3" name="Picture 2" descr="fig3_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615" y="1188720"/>
            <a:ext cx="8306465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790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Helvetica"/>
              </a:rPr>
              <a:t>Indicative monthly rent, U.S. dollars, 2021 to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9904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66666"/>
                </a:solidFill>
                <a:latin typeface="Helvetica"/>
              </a:rPr>
              <a:t>Sources: CivilNet; JAMnews; Mirror-Spectator; Numbeo; staff splicing.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9. Short-term rentals: workable economics, compounding supply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Market size: 2,400 to 6,000 active listings depending on provider definitions; supply growing 14 to 34 percent per year; only 0.2 percent professionally managed.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Economics: ADR US$60 to 76; realistic occupancy 50 to 65 percent; a well-run central one-bedroom grosses US$10,000 to 15,000 per year.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Thin premium over long-term letting once cleaning, fees, management, and voids are deducted; real mainly for Kentron units in the May to September window.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Demand has plateaued: tourist arrivals flat at 2.2 to 2.4 million since 2023, Russian share falling; supply growth exceeds demand growth.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Tax and regulation light: flat 10 percent on gross rent either mode; no STR permit; the 2026 notification system exempts individuals letting one apartment.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10. What the specialists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IMF: overvaluation 8 to 25 percent (2023); market "now cooling" (Dec 2025); subsidy phase-out credited with the cool-down.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CBA: the most cautious voice; 2024 completions doubled, excess-supply and credit-loss warnings; construction credit +30 percent for two years running.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ADB (2025): prices +100 percent since 2014; bottom three income deciles priced out; market "may be approaching the peak of its cycle."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Local consensus: soft landing; 3 to 7 percent annual growth in prime areas for 2026-27; the skeptics (Luys, Mikaelian, Parsyan) worry about credit, not a crash.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Nobody credible calls Yerevan cheap; nobody credible forecasts a bust.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11. Outlook and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Base case 2026-27: low-single-digit growth in Yerevan apartments (3 to 7 percent in prime areas), continued outperformance of houses and regions.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Dominant downside: durability of Russia-linked flows. Non-resident deposits 7.2 percent of GDP; IMF adverse scenario (remittances -45 percent) cuts growth to 3 percent.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Supply risk: completions doubled in 2024; absorption risk concentrated in the elite new-build segment.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Currency: the dram flattered every recent dollar return; depreciation would cut dollar values even with stable dram prices.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Upside: August 2025 peace treaty and TRIPP corridor, possible Turkiye border opening, EU-accession process, tourism diversification.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12. Considerations for a purchase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Timing: defensible entry; the blow-off is behind the market and central prices are 1 to 2 percent off peak, but the flat window is closing as growth resumes.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Two favored configurations: quality Kentron secondary stock, 50 to 75 sq m (liquidity, capital preservation, STR option), or Arabkir and the strong mid-ring for income.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Avoid the elite US$3,000+ new-build segment: absorption risk, thinnest secondary market.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Income math: expect 4.5 to 6 percent net yield either rental mode; total return roughly 8 to 12 percent in dram terms; the exchange rate decides the dollar outcome.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Mechanics: foreigners own apartments freely; cash purchase is the default (mortgages at 12.5 percent); rent taxed at a flat 10 percent.</a:t>
            </a:r>
          </a:p>
          <a:p>
            <a:pPr algn="l" marL="411480" indent="-292608">
              <a:lnSpc>
                <a:spcPct val="130000"/>
              </a:lnSpc>
              <a:spcAft>
                <a:spcPts val="600"/>
              </a:spcAft>
              <a:buClr>
                <a:srgbClr val="1F3A5F"/>
              </a:buClr>
              <a:buFont typeface="Arial"/>
              <a:buChar char="▸"/>
            </a:pPr>
            <a:r>
              <a:rPr sz="1800" b="0">
                <a:solidFill>
                  <a:srgbClr val="000000"/>
                </a:solidFill>
                <a:latin typeface="Helvetica"/>
              </a:rPr>
              <a:t>The residency binary: investment-residence rules due around November 1, 2026; whether residential property qualifies is open. Sequencing the purchase after that decision costs little and may be worth a great deal.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666666"/>
                </a:solidFill>
                <a:latin typeface="Helvetica"/>
              </a:rPr>
              <a:t>DATA ANNEX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38328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F3A5F"/>
                </a:solidFill>
                <a:latin typeface="Helvetica"/>
              </a:rPr>
              <a:t>The Official Data, Drawn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Figure A1. CBA price index: prices nearly doubled since 2018</a:t>
            </a:r>
          </a:p>
        </p:txBody>
      </p:sp>
      <p:pic>
        <p:nvPicPr>
          <p:cNvPr id="3" name="Picture 2" descr="fig_rppi_id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178" y="1188720"/>
            <a:ext cx="9289338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790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Helvetica"/>
              </a:rPr>
              <a:t>Residential property price index by segment, quarterly, 2018Q1 to 2026Q2 (2018 = 100).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9904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66666"/>
                </a:solidFill>
                <a:latin typeface="Helvetica"/>
              </a:rPr>
              <a:t>Source: Central Bank of Armenia RPPI data export, downloaded September 2,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Figure A2. Year-on-year growth: boom, 2025 pause, 2026 re-acceleration</a:t>
            </a:r>
          </a:p>
        </p:txBody>
      </p:sp>
      <p:pic>
        <p:nvPicPr>
          <p:cNvPr id="3" name="Picture 2" descr="fig_rppi_y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188720"/>
            <a:ext cx="10698480" cy="43690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750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Helvetica"/>
              </a:rPr>
              <a:t>RPPI, percent change on the same quarter a year earlier; 2026Q2: +12.0 percent.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754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66666"/>
                </a:solidFill>
                <a:latin typeface="Helvetica"/>
              </a:rPr>
              <a:t>Source: CBA RPPI data export; staff calculations.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Figure A3. Apartment prices by Yerevan zone</a:t>
            </a:r>
          </a:p>
        </p:txBody>
      </p:sp>
      <p:pic>
        <p:nvPicPr>
          <p:cNvPr id="3" name="Picture 2" descr="fig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115" y="1188720"/>
            <a:ext cx="9761464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790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Helvetica"/>
              </a:rPr>
              <a:t>Apartment price index by Yerevan zone (2018 = 100); Yerevan-Center +24.0 percent y/y in 2026Q2.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9904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66666"/>
                </a:solidFill>
                <a:latin typeface="Helvetica"/>
              </a:rPr>
              <a:t>Source: CBA RPPI data export.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Figure A4. Transactions at record levels</a:t>
            </a:r>
          </a:p>
        </p:txBody>
      </p:sp>
      <p:pic>
        <p:nvPicPr>
          <p:cNvPr id="3" name="Picture 2" descr="fig_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188720"/>
            <a:ext cx="10698480" cy="43690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750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Helvetica"/>
              </a:rPr>
              <a:t>Residential property sale transactions per quarter; 2026Q2: 8,497 deals worth AMD 289.7 billion.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754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66666"/>
                </a:solidFill>
                <a:latin typeface="Helvetica"/>
              </a:rPr>
              <a:t>Source: CBA RPPI data export.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Figure A5. The new-build premium by district</a:t>
            </a:r>
          </a:p>
        </p:txBody>
      </p:sp>
      <p:pic>
        <p:nvPicPr>
          <p:cNvPr id="3" name="Picture 2" descr="fig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524" y="1188720"/>
            <a:ext cx="7712647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790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Helvetica"/>
              </a:rPr>
              <a:t>Secondary-market average vs. new-build minimum asking, AMD thousands per sq m, mid-2026.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9904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66666"/>
                </a:solidFill>
                <a:latin typeface="Helvetica"/>
              </a:rPr>
              <a:t>Sources: b24.am district tables (Jun 2026); karucapatoxic.am new-build asking prices (Jul 2026).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Helvetica"/>
              </a:rPr>
              <a:t>Figure A6. Macro backdrop: IMF WEO series and projections</a:t>
            </a:r>
          </a:p>
        </p:txBody>
      </p:sp>
      <p:pic>
        <p:nvPicPr>
          <p:cNvPr id="3" name="Picture 2" descr="fig_w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169" y="1188720"/>
            <a:ext cx="8271357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790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Helvetica"/>
              </a:rPr>
              <a:t>Growth, inflation, current account, and debt, 2015 to 2031; projections from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9904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66666"/>
                </a:solidFill>
                <a:latin typeface="Helvetica"/>
              </a:rPr>
              <a:t>Source: IMF World Economic Outlook database, April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AAAAA"/>
                </a:solidFill>
                <a:latin typeface="Helvetica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